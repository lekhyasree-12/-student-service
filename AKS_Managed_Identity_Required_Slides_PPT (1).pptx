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731520"/>
            <a:ext cx="2560320" cy="1645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81160" y="1097280"/>
            <a:ext cx="1965960" cy="1645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0" y="5989320"/>
            <a:ext cx="3017520" cy="164592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0" y="5623560"/>
            <a:ext cx="2103120" cy="164592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BCD4"/>
                </a:solidFill>
                <a:latin typeface="Aptos"/>
              </a:rPr>
              <a:t>AZURE KUBERNETES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51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Cluster with Managed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9232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0"/>
                </a:solidFill>
                <a:latin typeface="Aptos"/>
              </a:rPr>
              <a:t>Secure &amp; Reliable Deployment of Student Management Microservices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069080"/>
            <a:ext cx="233172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078224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Microservices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069080"/>
            <a:ext cx="2148840" cy="365760"/>
          </a:xfrm>
          <a:prstGeom prst="round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407822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Private ACR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069080"/>
            <a:ext cx="2514600" cy="365760"/>
          </a:xfrm>
          <a:prstGeom prst="round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4078224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Pod-level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8920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8D6E8"/>
                </a:solidFill>
                <a:latin typeface="Aptos"/>
              </a:rPr>
              <a:t>Course 24CC3046 • Microsoft Certified Azure Administrator Associate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3492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0B4CD"/>
                </a:solidFill>
                <a:latin typeface="Aptos"/>
              </a:rPr>
              <a:t>Review 1 • Proposal &amp; Design • Odd Semester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61888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ABED7"/>
                </a:solidFill>
                <a:latin typeface="Aptos"/>
              </a:rPr>
              <a:t>Team: Nekkanti Lekhyasree • Maganti Sruthi • Lingineni Rohith Kumar • Koppu Venu Sooraj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Team Members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647080"/>
                </a:solidFill>
                <a:latin typeface="Aptos"/>
              </a:rPr>
              <a:t>Four focused workstreams with one shared 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16636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874519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487375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700" b="1" dirty="0">
                <a:solidFill>
                  <a:srgbClr val="0B2340"/>
                </a:solidFill>
                <a:latin typeface="Aptos"/>
              </a:rPr>
              <a:t>Containerization &amp; Application Packaging</a:t>
            </a:r>
            <a:endParaRPr sz="1700" b="1" dirty="0">
              <a:solidFill>
                <a:srgbClr val="0B234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4873752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dirty="0">
                <a:solidFill>
                  <a:srgbClr val="232D3A"/>
                </a:solidFill>
                <a:latin typeface="Aptos"/>
              </a:rPr>
              <a:t>Nekkanti </a:t>
            </a:r>
            <a:r>
              <a:rPr sz="1300" b="0" dirty="0" err="1">
                <a:solidFill>
                  <a:srgbClr val="232D3A"/>
                </a:solidFill>
                <a:latin typeface="Aptos"/>
              </a:rPr>
              <a:t>Lekhyasree</a:t>
            </a:r>
            <a:r>
              <a:rPr lang="en-IN" sz="1300" b="0" dirty="0">
                <a:solidFill>
                  <a:srgbClr val="232D3A"/>
                </a:solidFill>
                <a:latin typeface="Aptos"/>
              </a:rPr>
              <a:t>-</a:t>
            </a:r>
            <a:r>
              <a:rPr lang="en-IN" sz="1400" dirty="0"/>
              <a:t>240031881</a:t>
            </a:r>
            <a:r>
              <a:rPr sz="1300" b="0" dirty="0">
                <a:solidFill>
                  <a:srgbClr val="232D3A"/>
                </a:solidFill>
                <a:latin typeface="Aptos"/>
              </a:rPr>
              <a:t>
</a:t>
            </a:r>
            <a:r>
              <a:rPr lang="en-IN" sz="1300" dirty="0">
                <a:solidFill>
                  <a:srgbClr val="232D3A"/>
                </a:solidFill>
                <a:latin typeface="Aptos"/>
              </a:rPr>
              <a:t>Docker, </a:t>
            </a:r>
            <a:r>
              <a:rPr lang="en-IN" sz="1300" dirty="0" err="1">
                <a:solidFill>
                  <a:srgbClr val="232D3A"/>
                </a:solidFill>
                <a:latin typeface="Aptos"/>
              </a:rPr>
              <a:t>Dockerfiles</a:t>
            </a:r>
            <a:r>
              <a:rPr lang="en-IN" sz="1300" dirty="0">
                <a:solidFill>
                  <a:srgbClr val="232D3A"/>
                </a:solidFill>
                <a:latin typeface="Aptos"/>
              </a:rPr>
              <a:t>, container images, container configuration, preparing Student/Course services for deployment</a:t>
            </a:r>
            <a:endParaRPr sz="1300" b="0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92040" y="1463039"/>
            <a:ext cx="658368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472184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16636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4008" cy="1874519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453895"/>
            <a:ext cx="3838448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700" b="1" dirty="0">
                <a:solidFill>
                  <a:srgbClr val="0B2340"/>
                </a:solidFill>
                <a:latin typeface="Aptos"/>
              </a:rPr>
              <a:t>Azure Container Registry &amp; AKS Deployment</a:t>
            </a:r>
            <a:endParaRPr sz="1700" b="1" dirty="0">
              <a:solidFill>
                <a:srgbClr val="0B234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2512" y="2054712"/>
            <a:ext cx="4873752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dirty="0">
                <a:solidFill>
                  <a:srgbClr val="232D3A"/>
                </a:solidFill>
                <a:latin typeface="Aptos"/>
              </a:rPr>
              <a:t>Maganti Sruthi</a:t>
            </a:r>
            <a:r>
              <a:rPr lang="en-IN" sz="1300" b="0" dirty="0">
                <a:solidFill>
                  <a:srgbClr val="232D3A"/>
                </a:solidFill>
                <a:latin typeface="Aptos"/>
              </a:rPr>
              <a:t>-</a:t>
            </a:r>
            <a:r>
              <a:rPr lang="en-IN" sz="1400" dirty="0"/>
              <a:t>2400032349</a:t>
            </a:r>
            <a:r>
              <a:rPr sz="1300" b="0" dirty="0">
                <a:solidFill>
                  <a:srgbClr val="232D3A"/>
                </a:solidFill>
                <a:latin typeface="Aptos"/>
              </a:rPr>
              <a:t>
</a:t>
            </a:r>
            <a:r>
              <a:rPr lang="en-IN" sz="1300" b="0" dirty="0">
                <a:solidFill>
                  <a:srgbClr val="232D3A"/>
                </a:solidFill>
                <a:latin typeface="Aptos"/>
              </a:rPr>
              <a:t>
</a:t>
            </a:r>
            <a:r>
              <a:rPr lang="en-US" sz="1300" dirty="0">
                <a:solidFill>
                  <a:srgbClr val="232D3A"/>
                </a:solidFill>
                <a:latin typeface="Aptos"/>
              </a:rPr>
              <a:t>ACR, AKS cluster, Kubernetes Pods, Deployments, Services, image pulling, replicas</a:t>
            </a:r>
            <a:endParaRPr sz="1300" b="0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515600" y="1463039"/>
            <a:ext cx="658368" cy="365760"/>
          </a:xfrm>
          <a:prstGeom prst="round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0" y="1472184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516636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657600"/>
            <a:ext cx="64008" cy="1874519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785615"/>
            <a:ext cx="487375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700" b="1" dirty="0">
                <a:solidFill>
                  <a:srgbClr val="0B2340"/>
                </a:solidFill>
                <a:latin typeface="Aptos"/>
              </a:rPr>
              <a:t>Identity &amp; Security</a:t>
            </a:r>
            <a:endParaRPr sz="1700" b="1" dirty="0">
              <a:solidFill>
                <a:srgbClr val="0B234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4178808"/>
            <a:ext cx="4873752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300" dirty="0" err="1">
                <a:solidFill>
                  <a:srgbClr val="232D3A"/>
                </a:solidFill>
                <a:latin typeface="Aptos"/>
              </a:rPr>
              <a:t>Koppu</a:t>
            </a:r>
            <a:r>
              <a:rPr lang="en-IN" sz="1300" dirty="0">
                <a:solidFill>
                  <a:srgbClr val="232D3A"/>
                </a:solidFill>
                <a:latin typeface="Aptos"/>
              </a:rPr>
              <a:t> Venu Sooraj -</a:t>
            </a:r>
            <a:r>
              <a:rPr lang="en-IN" sz="1400" dirty="0"/>
              <a:t>2400031962</a:t>
            </a:r>
            <a:r>
              <a:rPr sz="1300" b="0" dirty="0">
                <a:solidFill>
                  <a:srgbClr val="232D3A"/>
                </a:solidFill>
                <a:latin typeface="Aptos"/>
              </a:rPr>
              <a:t>
</a:t>
            </a:r>
            <a:endParaRPr lang="en-IN" sz="1300" b="0" dirty="0">
              <a:solidFill>
                <a:srgbClr val="232D3A"/>
              </a:solidFill>
              <a:latin typeface="Aptos"/>
            </a:endParaRPr>
          </a:p>
          <a:p>
            <a:r>
              <a:rPr lang="en-US" sz="1300" dirty="0">
                <a:solidFill>
                  <a:srgbClr val="232D3A"/>
                </a:solidFill>
                <a:latin typeface="Aptos"/>
              </a:rPr>
              <a:t>Managed Identity, Microsoft Entra Workload Identity, Service Accounts, Federated Identity, RBAC, Key Vault</a:t>
            </a:r>
            <a:endParaRPr sz="1300" b="0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92040" y="3794760"/>
            <a:ext cx="658368" cy="365760"/>
          </a:xfrm>
          <a:prstGeom prst="round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3803904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5166360" cy="1874519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64008" cy="1874519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3785615"/>
            <a:ext cx="487375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700" b="1" dirty="0">
                <a:solidFill>
                  <a:srgbClr val="0B2340"/>
                </a:solidFill>
                <a:latin typeface="Aptos"/>
              </a:rPr>
              <a:t>Networking, Reliability &amp; Monitoring</a:t>
            </a:r>
            <a:endParaRPr sz="1700" b="1" dirty="0">
              <a:solidFill>
                <a:srgbClr val="0B234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82512" y="4178808"/>
            <a:ext cx="4873752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300" dirty="0" err="1">
                <a:solidFill>
                  <a:srgbClr val="232D3A"/>
                </a:solidFill>
                <a:latin typeface="Aptos"/>
              </a:rPr>
              <a:t>Lingineni</a:t>
            </a:r>
            <a:r>
              <a:rPr lang="en-IN" sz="1300" dirty="0">
                <a:solidFill>
                  <a:srgbClr val="232D3A"/>
                </a:solidFill>
                <a:latin typeface="Aptos"/>
              </a:rPr>
              <a:t> Rohith Kumar - </a:t>
            </a:r>
            <a:r>
              <a:rPr lang="en-IN" sz="1400" dirty="0"/>
              <a:t>2400032006</a:t>
            </a:r>
            <a:endParaRPr lang="en-IN" sz="1300" dirty="0">
              <a:solidFill>
                <a:srgbClr val="232D3A"/>
              </a:solidFill>
              <a:latin typeface="Aptos"/>
            </a:endParaRPr>
          </a:p>
          <a:p>
            <a:r>
              <a:rPr sz="1300" b="0" dirty="0">
                <a:solidFill>
                  <a:srgbClr val="232D3A"/>
                </a:solidFill>
                <a:latin typeface="Aptos"/>
              </a:rPr>
              <a:t>
</a:t>
            </a:r>
            <a:r>
              <a:rPr lang="en-US" sz="1300" dirty="0" err="1">
                <a:solidFill>
                  <a:srgbClr val="232D3A"/>
                </a:solidFill>
                <a:latin typeface="Aptos"/>
              </a:rPr>
              <a:t>VNet</a:t>
            </a:r>
            <a:r>
              <a:rPr lang="en-US" sz="1300" dirty="0">
                <a:solidFill>
                  <a:srgbClr val="232D3A"/>
                </a:solidFill>
                <a:latin typeface="Aptos"/>
              </a:rPr>
              <a:t>, Subnet, NSG, node-pool upgrades, pod eviction, probes, rolling updates, Azure Monitor</a:t>
            </a:r>
            <a:endParaRPr sz="1300" b="0" dirty="0">
              <a:solidFill>
                <a:srgbClr val="232D3A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515600" y="3794760"/>
            <a:ext cx="658368" cy="365760"/>
          </a:xfrm>
          <a:prstGeom prst="round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0" y="3803904"/>
            <a:ext cx="6583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Shared responsibility: every member understands the full flow from application → container → AKS → identity → Azure resources.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The Student Management application is the demonstration workload for the AKS + Managed Identity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297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32278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340"/>
                </a:solidFill>
                <a:latin typeface="Aptos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3227832" cy="3675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A simple microservices system with:
• Student Service
• Course Service
• REST APIs
• PostgreSQL database
• Dockerized Spring Boot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29768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453895"/>
            <a:ext cx="32278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340"/>
                </a:solidFill>
                <a:latin typeface="Aptos"/>
              </a:rPr>
              <a:t>Cloud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47088"/>
            <a:ext cx="3227832" cy="3675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Azure Kubernetes Service (AKS)
• Pods run the services
• Private ACR stores images
• Kubernetes manages deployment
• Networking controls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52044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64008" cy="429768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453895"/>
            <a:ext cx="32278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340"/>
                </a:solidFill>
                <a:latin typeface="Aptos"/>
              </a:rPr>
              <a:t>Security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847088"/>
            <a:ext cx="3227832" cy="3675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Pod-level identity through:
Pod → Service Account →
Entra Workload Identity →
Managed Identity → RBAC →
Azure resource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Hackathon focus: secure workload identity, private image access, and reliable AKS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Deploying microservices on AKS requires secure authentication from workloads to Azure resources.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Private container images must be pulled securely from Azure Container Registry.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Workload Identity Federation setup can be error-prone when issuer, subject, audience, service account, and permissions do not match.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AKS node pool upgrades can evict or restart pods and may cause service disruption if workloads are not designed for it.</a:t>
            </a:r>
          </a:p>
          <a:p>
            <a:pPr>
              <a:spcAft>
                <a:spcPts val="8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The project demonstrates practical ways to reduce these risks using identity, least privilege, and Kubernetes resilience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475488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46520" y="1417320"/>
            <a:ext cx="64008" cy="361188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1545336"/>
            <a:ext cx="44622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340"/>
                </a:solidFill>
                <a:latin typeface="Aptos"/>
              </a:rPr>
              <a:t>Two official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1938528"/>
            <a:ext cx="4462272" cy="2990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01  Workload identity federation setup
02  Node pool upgrade → pod eviction / disruption
The Student Management application provides a realistic workload for demonstrating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What the project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1.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31363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Create Student and Course Spring Boot microservices.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53895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2. Containerize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47088"/>
            <a:ext cx="31363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Package each service as a Docker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325880"/>
            <a:ext cx="342900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325880"/>
            <a:ext cx="64008" cy="16916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453895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3. Private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47088"/>
            <a:ext cx="31363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Store images in a private Azure Container Registry.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342900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64008" cy="169164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4.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95928"/>
            <a:ext cx="31363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Run the microservices as pods on AKS.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42900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474720"/>
            <a:ext cx="64008" cy="169164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60273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5.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995928"/>
            <a:ext cx="31363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Use Entra Workload Identity with a managed identity.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474720"/>
            <a:ext cx="342900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80" y="3474720"/>
            <a:ext cx="64008" cy="169164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60273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6. Resilience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995928"/>
            <a:ext cx="313639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Reduce upgrade-related disruption with replicas and health checks.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Use Case / Real-World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A university can use the same pattern for student and course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874519" cy="9601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2011679"/>
            <a:ext cx="17282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340"/>
                </a:solidFill>
                <a:latin typeface="Aptos"/>
              </a:rPr>
              <a:t>Student / Faculty
/Admin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450592"/>
            <a:ext cx="118872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1508760"/>
            <a:ext cx="2148840" cy="9601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5F4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1554480"/>
            <a:ext cx="200253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340"/>
                </a:solidFill>
                <a:latin typeface="Aptos"/>
              </a:rPr>
              <a:t>AKS
Student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834640"/>
            <a:ext cx="2148840" cy="9601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5F4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2880360"/>
            <a:ext cx="200253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340"/>
                </a:solidFill>
                <a:latin typeface="Aptos"/>
              </a:rPr>
              <a:t>AKS
Course 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1993392"/>
            <a:ext cx="150876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3319272"/>
            <a:ext cx="1508760" cy="0"/>
          </a:xfrm>
          <a:prstGeom prst="line">
            <a:avLst/>
          </a:prstGeom>
          <a:ln w="25400">
            <a:solidFill>
              <a:srgbClr val="64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965960"/>
            <a:ext cx="2148840" cy="9601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34072" y="2011679"/>
            <a:ext cx="200253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340"/>
                </a:solidFill>
                <a:latin typeface="Aptos"/>
              </a:rPr>
              <a:t>Azure
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1325880"/>
            <a:ext cx="1828800" cy="365760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38360" y="1325880"/>
            <a:ext cx="64008" cy="365760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02952" y="1453895"/>
            <a:ext cx="15361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2" y="1847088"/>
            <a:ext cx="1536192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Student:
• Register
• View
• Update
• Delete
Course:
• Create
• View
• Update
• 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83480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2D3A"/>
                </a:solidFill>
                <a:latin typeface="Aptos"/>
              </a:rPr>
              <a:t>The cloud architecture separates application concerns while AKS handles container orchestration and scaling.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Azure Services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Core Azure services mapped to their role in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" cy="9875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55648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Runs and orchestrates microservice pods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4008" cy="987552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36245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Azure Container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55648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Private storage for Docker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96312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496312"/>
            <a:ext cx="64008" cy="9875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624328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Microsoft Entra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17520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Identity platform used by Workload Identity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96312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496312"/>
            <a:ext cx="64008" cy="987552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2624328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Managed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017520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Azure identity assigned to workloads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58183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758183"/>
            <a:ext cx="64008" cy="987552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886199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Azure RBAC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79392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Controls what the identity can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58183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758183"/>
            <a:ext cx="64008" cy="987552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3886199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Azure Database for PostgreSQL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279392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Persistent relational application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0056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020056"/>
            <a:ext cx="64008" cy="9875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5148072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VNet + NSG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541264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Network isolation and traffic controls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020056"/>
            <a:ext cx="5349240" cy="98755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5020056"/>
            <a:ext cx="64008" cy="987552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5148072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Azure 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5541264"/>
            <a:ext cx="505663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Logs, metrics and operational visibility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6D7187-2777-0446-4137-D87D828014A1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14F1B-C2C6-6AF6-50F9-422927F7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98" y="347079"/>
            <a:ext cx="10064202" cy="642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3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Azure Resource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Planned resource layout for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4924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11155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Resource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7"/>
            <a:ext cx="5056631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Single logical container for project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4924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1115568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4081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AKS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01367"/>
            <a:ext cx="5056631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Cluster with node pool for application pods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97480"/>
            <a:ext cx="534924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697480"/>
            <a:ext cx="64008" cy="1115568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82549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Azure Container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218688"/>
            <a:ext cx="5056631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Private registry with student-service and course-service images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97480"/>
            <a:ext cx="534924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697480"/>
            <a:ext cx="64008" cy="1115568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82549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18688"/>
            <a:ext cx="5056631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Database for student and course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14800"/>
            <a:ext cx="534924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114800"/>
            <a:ext cx="64008" cy="11155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24281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Managed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636008"/>
            <a:ext cx="5056631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Identity used by the workload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14800"/>
            <a:ext cx="534924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114800"/>
            <a:ext cx="64008" cy="1115568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24281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VNet / Subnet / NSG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636008"/>
            <a:ext cx="5056631" cy="493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Controlled network boundary for AKS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Actual SKU, region and sizing should be selected according to the team's Azure subscription and budget.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Build locally first, then move the same containers to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453895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01 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4708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Spring Boot Student + Course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2588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64008" cy="169164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453895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02 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84708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Connect and test 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64008" cy="169164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453895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03  API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184708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Validate CRUD endpoints with Postman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2588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325880"/>
            <a:ext cx="64008" cy="169164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1453895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04  Containerize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184708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Create Docker 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6400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05  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99592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Push images to private ACR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47472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3474720"/>
            <a:ext cx="64008" cy="169164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06 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99592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Create AKS Deployments +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7472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474720"/>
            <a:ext cx="64008" cy="169164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07  Secure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399592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Configure Workload Identity + RBAC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74720"/>
            <a:ext cx="260604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0" y="3474720"/>
            <a:ext cx="64008" cy="169164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08592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08  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995928"/>
            <a:ext cx="2313432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Test identity, image pull and upgrades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Configuration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Kubernetes objects connect images, pods, services and identities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7472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4434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3182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7"/>
            <a:ext cx="3182112" cy="381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Student Deployment
• Image: private ACR
• Replicas: 2+
• Readiness probe
• Liveness probe
Course Deployment
• Same pattern
• Independent rollout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64008" cy="443484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408176"/>
            <a:ext cx="3182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01367"/>
            <a:ext cx="3182112" cy="381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Kubernetes Service
• Stable internal endpoint
• Routes traffic to pods
• Selector targets labels
This keeps application access independent of pod IP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47472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64008" cy="443484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408176"/>
            <a:ext cx="31821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Identity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801367"/>
            <a:ext cx="3182112" cy="381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Service Account
+
Workload Identity labels/annotations
+
Federated identity credential
+
Managed Identity + RBAC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Security &amp; Access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Authentication identifies the workload; RBAC limits what it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55448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874519"/>
            <a:ext cx="140817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B2340"/>
                </a:solidFill>
                <a:latin typeface="Aptos"/>
              </a:rPr>
              <a:t>Student Pod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286000"/>
            <a:ext cx="86868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1828800"/>
            <a:ext cx="205740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5F4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0672" y="1874519"/>
            <a:ext cx="19110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2340"/>
                </a:solidFill>
                <a:latin typeface="Aptos"/>
              </a:rPr>
              <a:t>Kubernetes
Service Account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2286000"/>
            <a:ext cx="73152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06440" y="1828800"/>
            <a:ext cx="182880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79592" y="1874519"/>
            <a:ext cx="168249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2340"/>
                </a:solidFill>
                <a:latin typeface="Aptos"/>
              </a:rPr>
              <a:t>Entra
Workload Identity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2286000"/>
            <a:ext cx="685800" cy="0"/>
          </a:xfrm>
          <a:prstGeom prst="line">
            <a:avLst/>
          </a:prstGeom>
          <a:ln w="25400"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1828800"/>
            <a:ext cx="164592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0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874519"/>
            <a:ext cx="14996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2340"/>
                </a:solidFill>
                <a:latin typeface="Aptos"/>
              </a:rPr>
              <a:t>Managed
Identity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60" y="2286000"/>
            <a:ext cx="685800" cy="0"/>
          </a:xfrm>
          <a:prstGeom prst="line">
            <a:avLst/>
          </a:prstGeom>
          <a:ln w="25400">
            <a:solidFill>
              <a:srgbClr val="EB8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52760" y="1828800"/>
            <a:ext cx="960120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B8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25912" y="1874519"/>
            <a:ext cx="81381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B2340"/>
                </a:solidFill>
                <a:latin typeface="Aptos"/>
              </a:rPr>
              <a:t>Azure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64008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34655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5876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The workload proves which Azure identity it should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3375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3337560"/>
            <a:ext cx="64008" cy="164592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34655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Authorization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85876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Azure RBAC defines the resources and actions allowed.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3375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337560"/>
            <a:ext cx="64008" cy="164592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1" y="34655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Security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85876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Use least privilege and avoid hard-coded Azure credentials.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Networking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Keep workload traffic controlled and predictable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7132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62456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VNet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497312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Logical private network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30552"/>
            <a:ext cx="107899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30552"/>
            <a:ext cx="64008" cy="713232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258568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AKS subnet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651760"/>
            <a:ext cx="10497312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Hosts AKS networking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26664"/>
            <a:ext cx="107899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026664"/>
            <a:ext cx="64008" cy="713232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154680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NSG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547872"/>
            <a:ext cx="10497312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Controls permitted inbound/outbound traffic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107899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922776"/>
            <a:ext cx="64008" cy="713232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050791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Public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43984"/>
            <a:ext cx="10497312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Only expose required application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18888"/>
            <a:ext cx="10789920" cy="71323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818888"/>
            <a:ext cx="64008" cy="713232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4946903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Private workload 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340096"/>
            <a:ext cx="10497312" cy="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Service-to-service/database traffic stays controlled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Design goal: minimize exposed endpoints and apply network controls at the appropriate subnet/resource boundaries.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Storage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Persistent data is separated from stateless application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25196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53895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Student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47088"/>
            <a:ext cx="3136392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• Student ID
• Name
• Email
• Department
• Year
Stored in PostgreSQL.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4251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53895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Course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47088"/>
            <a:ext cx="3136392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32D3A"/>
                </a:solidFill>
                <a:latin typeface="Aptos"/>
              </a:rPr>
              <a:t>• Course ID
• Course code
• Course name
• Credits
• Department
Stored in PostgreSQL.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25196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453895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Optional Blob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47088"/>
            <a:ext cx="3136392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Can be added for documents or other unstructured files.
Workload Identity can be used for secure Azure access without putting credentials in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Database access should use secure connection settings and environment/secret management rather than hard-coded credentials.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Monitoring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Operational visibility helps verify that the cluster is healthy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Pod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5056631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kubectl get pods
Readiness / liveness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4924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64008" cy="164592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453895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Deployment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47088"/>
            <a:ext cx="5056631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Replica count
Rollout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534924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383280"/>
            <a:ext cx="64008" cy="164592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51129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Application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904488"/>
            <a:ext cx="5056631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Spring Boot logs
Error diagnosis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383280"/>
            <a:ext cx="534924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383280"/>
            <a:ext cx="64008" cy="164592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351129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Azure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904488"/>
            <a:ext cx="5056631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Metrics, logs and alerts
Operational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340"/>
                </a:solidFill>
                <a:latin typeface="Aptos"/>
              </a:rPr>
              <a:t>Management checks: pod status → service endpoints → logs → resource health → identity/access behavior.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Validate each layer before the final end-to-end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29000" cy="15727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157276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7"/>
            <a:ext cx="31363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CRUD APIs return expected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15727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1572768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081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01367"/>
            <a:ext cx="31363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Docker image runs locally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280160"/>
            <a:ext cx="3429000" cy="15727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280160"/>
            <a:ext cx="64008" cy="1572768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4081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01367"/>
            <a:ext cx="31363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AKS can pull the private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91840"/>
            <a:ext cx="3429000" cy="15727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291840"/>
            <a:ext cx="64008" cy="15727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41985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813048"/>
            <a:ext cx="31363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Pod receives the intended workload identity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91840"/>
            <a:ext cx="3429000" cy="15727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291840"/>
            <a:ext cx="64008" cy="1572768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41985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Authorization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813048"/>
            <a:ext cx="31363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RBAC allows only required Azure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291840"/>
            <a:ext cx="3429000" cy="1572768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80" y="3291840"/>
            <a:ext cx="64008" cy="1572768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41985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813048"/>
            <a:ext cx="3136392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Pods remain available during controlled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080"/>
                </a:solidFill>
                <a:latin typeface="Aptos"/>
              </a:rPr>
              <a:t>Evidence can include Postman responses, Docker/ACR images, kubectl output, AKS deployment state and identity configuration.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Challenges Faced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Focus on the two bottlenecks identified for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5780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408176"/>
            <a:ext cx="49651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Challenge 1 — Workload Identity Federation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01367"/>
            <a:ext cx="4965192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Problem:
Configuration can fail when the federated credential does not match the Kubernetes service account or token claims.
Response:
• Keep issuer/subject/audience consistent
• Verify service account labels/annotations
• Verify federated credential
• Verify managed identity + RBAC
• Test access from the actual 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448056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408176"/>
            <a:ext cx="49651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Challenge 2 — Node Pool Upgrades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801367"/>
            <a:ext cx="4965192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D3A"/>
                </a:solidFill>
                <a:latin typeface="Aptos"/>
              </a:rPr>
              <a:t>Problem:
Upgrades can evict or restart pods.
Response:
• Use multiple replicas
• Add readiness/liveness probes
• Use rolling update strategy
• Use disruption controls where appropriate
• Verify application behavior during controlled upgrades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Performance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Target validation results for the completed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349240" cy="107899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10789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API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7"/>
            <a:ext cx="5056631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CRUD operations work for students and courses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49240" cy="107899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1078992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4081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801367"/>
            <a:ext cx="5056631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Both services run as healthy AKS pods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51760"/>
            <a:ext cx="5349240" cy="107899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64008" cy="1078992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7797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Private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172968"/>
            <a:ext cx="5056631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Images are stored in ACR and pulled by AKS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651760"/>
            <a:ext cx="5349240" cy="107899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651760"/>
            <a:ext cx="64008" cy="107899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7797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172968"/>
            <a:ext cx="5056631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Workload identity path is validated from pod to Azure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23360"/>
            <a:ext cx="5349240" cy="107899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023360"/>
            <a:ext cx="64008" cy="1078992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1513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544568"/>
            <a:ext cx="5056631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Multiple replicas and probes reduce disruption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023360"/>
            <a:ext cx="5349240" cy="1078992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023360"/>
            <a:ext cx="64008" cy="1078992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4151376"/>
            <a:ext cx="50566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544568"/>
            <a:ext cx="5056631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Logs and cluster status support troubleshooting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235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47080"/>
                </a:solidFill>
                <a:latin typeface="Aptos"/>
              </a:rPr>
              <a:t>Important: final measured latency, availability and cost values should be inserted after the actual deployment and testing.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Cost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Azure cost depends on region, tier, usage and the team's subscription/credits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0789920" cy="694944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64008" cy="694944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16736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0497312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Cluster/node infrastructure and associated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10789920" cy="694944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64008" cy="694944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185416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578608"/>
            <a:ext cx="10497312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Registry storage and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26080"/>
            <a:ext cx="10789920" cy="694944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26080"/>
            <a:ext cx="64008" cy="694944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054096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447288"/>
            <a:ext cx="10497312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Compute, storage and backup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59"/>
            <a:ext cx="10789920" cy="694944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94759"/>
            <a:ext cx="64008" cy="694944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922775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Azure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315968"/>
            <a:ext cx="10497312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Log ingestion and retention can incur charges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789920" cy="694944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663440"/>
            <a:ext cx="64008" cy="69494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4791455"/>
            <a:ext cx="10497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Identity / RBAC / NSG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184648"/>
            <a:ext cx="10497312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Core capabilities generally do not have a separate per-use 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2D3A"/>
                </a:solidFill>
                <a:latin typeface="Aptos"/>
              </a:rPr>
              <a:t>Cost-control practices: delete unused resources, choose appropriate SKUs, limit log retention, and monitor spending.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Key technical takeaways from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Microservices become easier to deploy and scale when each service is independently containerized.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ACR provides a private image source for AKS deployments.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Pod-level identity separates workload authentication from application code and avoids embedding Azure credentials.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Managed Identity and Azure RBAC work together: identity establishes who the workload is; RBAC controls what it can access.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Kubernetes resilience features matter during node maintenance and upgrades.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Configuration consistency is critical across Kubernetes, Entra ID, federated credentials and Azure RBAC.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Possible next steps after the core hackathon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64008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4081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7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React dashboard for students, faculty and admins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64008" cy="164592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081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Autoscaling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01367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Horizontal Pod Autoscaler based on workload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2801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280160"/>
            <a:ext cx="64008" cy="164592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4081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01367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Dashboards and alerts using Azure Monitor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375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337560"/>
            <a:ext cx="64008" cy="164592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4655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85876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Automated build → ACR → AKS deployment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337560"/>
            <a:ext cx="64008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4655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More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85876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Authentication, notification or enrollment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337560"/>
            <a:ext cx="342900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80" y="3337560"/>
            <a:ext cx="64008" cy="164592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3465576"/>
            <a:ext cx="313639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2340"/>
                </a:solidFill>
                <a:latin typeface="Aptos"/>
              </a:rPr>
              <a:t>Document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858768"/>
            <a:ext cx="3136392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3A"/>
                </a:solidFill>
                <a:latin typeface="Aptos"/>
              </a:rPr>
              <a:t>Use Blob Storage with workload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Secure identity + private images + resilient AKS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340"/>
                </a:solidFill>
                <a:latin typeface="Aptos"/>
              </a:rPr>
              <a:t>The project demonstrates a practical Azure-native pattern for running student management microservices on 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3383280" cy="21488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423160"/>
            <a:ext cx="64008" cy="214884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551176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Secure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44368"/>
            <a:ext cx="30906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Workload Identity + Managed Identity + RBAC reduce the need for embedded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423160"/>
            <a:ext cx="3383280" cy="21488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423160"/>
            <a:ext cx="64008" cy="214884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551176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44368"/>
            <a:ext cx="30906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Docker images are stored in a private ACR and consumed by AKS.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423160"/>
            <a:ext cx="3383280" cy="214884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2423160"/>
            <a:ext cx="64008" cy="214884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551176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340"/>
                </a:solidFill>
                <a:latin typeface="Aptos"/>
              </a:rPr>
              <a:t>Reliable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44368"/>
            <a:ext cx="30906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D3A"/>
                </a:solidFill>
                <a:latin typeface="Aptos"/>
              </a:rPr>
              <a:t>Replicas, probes and controlled rollouts help reduce upgrade-related disruption.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32D3A"/>
                </a:solidFill>
                <a:latin typeface="Aptos"/>
              </a:rPr>
              <a:t>Overall flow:  Spring Boot → Docker → ACR → AKS → Workload Identity → Managed Identity → Azure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B2340"/>
                </a:solidFill>
                <a:latin typeface="Apto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080"/>
                </a:solidFill>
                <a:latin typeface="Aptos"/>
              </a:rPr>
              <a:t>Recommended order for the final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7080"/>
                </a:solidFill>
                <a:latin typeface="Aptos"/>
              </a:rPr>
              <a:t>Azure Kubernetes Service • Managed Identity • Student Management 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64008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36245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1. Show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Open Student/Course APIs or frontend.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3444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234440"/>
            <a:ext cx="64008" cy="178308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36245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2. Test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75564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Create, read, update and delete sample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64008" cy="178308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36245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3. Show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175564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Display the service images and tags.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3444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234440"/>
            <a:ext cx="64008" cy="178308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136245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4. Show ACR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175564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Show private repositories and pushed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64008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5. Show 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99592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Display nodes, deployments, services and pods.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47472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3474720"/>
            <a:ext cx="64008" cy="1783080"/>
          </a:xfrm>
          <a:prstGeom prst="rect">
            <a:avLst/>
          </a:prstGeom>
          <a:solidFill>
            <a:srgbClr val="5F4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6. Show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99592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Explain service account → Workload Identity → Managed Identity.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47472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474720"/>
            <a:ext cx="64008" cy="1783080"/>
          </a:xfrm>
          <a:prstGeom prst="rect">
            <a:avLst/>
          </a:prstGeom>
          <a:solidFill>
            <a:srgbClr val="10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7. Validate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399592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Demonstrate the intended Azure resource access.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474720"/>
            <a:ext cx="2606040" cy="1783080"/>
          </a:xfrm>
          <a:prstGeom prst="roundRect">
            <a:avLst/>
          </a:prstGeom>
          <a:solidFill>
            <a:srgbClr val="F5F8FC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0" y="3474720"/>
            <a:ext cx="64008" cy="1783080"/>
          </a:xfrm>
          <a:prstGeom prst="rect">
            <a:avLst/>
          </a:prstGeom>
          <a:solidFill>
            <a:srgbClr val="EB8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08592" y="3602736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340"/>
                </a:solidFill>
                <a:latin typeface="Aptos"/>
              </a:rPr>
              <a:t>8. Reliability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995928"/>
            <a:ext cx="2313432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32D3A"/>
                </a:solidFill>
                <a:latin typeface="Aptos"/>
              </a:rPr>
              <a:t>Show rollout/replica/probe configuration and explain upgrade handling.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910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5146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0BCD4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2E1F2"/>
                </a:solidFill>
                <a:latin typeface="Aptos"/>
              </a:rPr>
              <a:t>Azure Kubernetes Service Cluster with Managed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4C8E1"/>
                </a:solidFill>
                <a:latin typeface="Aptos"/>
              </a:rPr>
              <a:t>Student Management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ABED7"/>
                </a:solidFill>
                <a:latin typeface="Aptos"/>
              </a:rPr>
              <a:t>Nekkanti Lekhyasree • Maganti Sruthi • Lingineni Rohith Kumar • Koppu Venu Sooraj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2194</Words>
  <Application>Microsoft Office PowerPoint</Application>
  <PresentationFormat>Widescreen</PresentationFormat>
  <Paragraphs>316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Lekhya Sree Nekkanti</cp:lastModifiedBy>
  <cp:revision>5</cp:revision>
  <dcterms:created xsi:type="dcterms:W3CDTF">2013-01-27T09:14:16Z</dcterms:created>
  <dcterms:modified xsi:type="dcterms:W3CDTF">2026-09-27T04:50:06Z</dcterms:modified>
  <cp:category/>
</cp:coreProperties>
</file>